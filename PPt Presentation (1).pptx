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7" r:id="rId1"/>
  </p:sldMasterIdLst>
  <p:sldIdLst>
    <p:sldId id="256" r:id="rId2"/>
    <p:sldId id="259" r:id="rId3"/>
    <p:sldId id="267" r:id="rId4"/>
    <p:sldId id="257" r:id="rId5"/>
    <p:sldId id="268" r:id="rId6"/>
    <p:sldId id="258"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322" autoAdjust="0"/>
    <p:restoredTop sz="94660"/>
  </p:normalViewPr>
  <p:slideViewPr>
    <p:cSldViewPr snapToGrid="0">
      <p:cViewPr>
        <p:scale>
          <a:sx n="75" d="100"/>
          <a:sy n="75" d="100"/>
        </p:scale>
        <p:origin x="-12"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16459C8-6D7C-4D1F-B041-D889C03CADA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3699811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16459C8-6D7C-4D1F-B041-D889C03CADA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2163154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6459C8-6D7C-4D1F-B041-D889C03CADA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4178309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16459C8-6D7C-4D1F-B041-D889C03CADA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3675738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16459C8-6D7C-4D1F-B041-D889C03CADAC}" type="datetimeFigureOut">
              <a:rPr lang="en-IN" smtClean="0"/>
              <a:t>11-02-2026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4177119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16459C8-6D7C-4D1F-B041-D889C03CADAC}"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1693921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6459C8-6D7C-4D1F-B041-D889C03CADAC}" type="datetimeFigureOut">
              <a:rPr lang="en-IN" smtClean="0"/>
              <a:t>11-02-2026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390256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6459C8-6D7C-4D1F-B041-D889C03CADA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26737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6459C8-6D7C-4D1F-B041-D889C03CADA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3063766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16459C8-6D7C-4D1F-B041-D889C03CADA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487085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16459C8-6D7C-4D1F-B041-D889C03CADA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731F48-7BD5-4314-991F-82AF9F00B63F}" type="slidenum">
              <a:rPr lang="en-IN" smtClean="0"/>
              <a:t>‹#›</a:t>
            </a:fld>
            <a:endParaRPr lang="en-IN"/>
          </a:p>
        </p:txBody>
      </p:sp>
    </p:spTree>
    <p:extLst>
      <p:ext uri="{BB962C8B-B14F-4D97-AF65-F5344CB8AC3E}">
        <p14:creationId xmlns:p14="http://schemas.microsoft.com/office/powerpoint/2010/main" val="3056505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459C8-6D7C-4D1F-B041-D889C03CADAC}" type="datetimeFigureOut">
              <a:rPr lang="en-IN" smtClean="0"/>
              <a:t>11-02-2026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731F48-7BD5-4314-991F-82AF9F00B63F}" type="slidenum">
              <a:rPr lang="en-IN" smtClean="0"/>
              <a:t>‹#›</a:t>
            </a:fld>
            <a:endParaRPr lang="en-IN"/>
          </a:p>
        </p:txBody>
      </p:sp>
    </p:spTree>
    <p:extLst>
      <p:ext uri="{BB962C8B-B14F-4D97-AF65-F5344CB8AC3E}">
        <p14:creationId xmlns:p14="http://schemas.microsoft.com/office/powerpoint/2010/main" val="3115074697"/>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3160" y="2861638"/>
            <a:ext cx="9144000" cy="2040563"/>
          </a:xfrm>
          <a:noFill/>
        </p:spPr>
        <p:txBody>
          <a:bodyPr>
            <a:normAutofit/>
          </a:bodyPr>
          <a:lstStyle/>
          <a:p>
            <a:pPr algn="ctr"/>
            <a:r>
              <a:rPr lang="en-US" sz="4400" b="1" dirty="0" smtClean="0">
                <a:solidFill>
                  <a:srgbClr val="FF0000"/>
                </a:solidFill>
                <a:latin typeface="Cambria" panose="02040503050406030204" pitchFamily="18" charset="0"/>
                <a:ea typeface="Cambria" panose="02040503050406030204" pitchFamily="18" charset="0"/>
              </a:rPr>
              <a:t>NETFLIX CONTENT </a:t>
            </a:r>
            <a:r>
              <a:rPr lang="en-US" sz="4400" b="1" dirty="0" smtClean="0">
                <a:solidFill>
                  <a:srgbClr val="FF0000"/>
                </a:solidFill>
                <a:latin typeface="Cambria" panose="02040503050406030204" pitchFamily="18" charset="0"/>
                <a:ea typeface="Cambria" panose="02040503050406030204" pitchFamily="18" charset="0"/>
              </a:rPr>
              <a:t>PERFORMANCE AND GROWTH ANALYTICS</a:t>
            </a:r>
            <a:endParaRPr lang="en-IN" sz="4400" b="1" dirty="0">
              <a:solidFill>
                <a:srgbClr val="FF0000"/>
              </a:solidFill>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7712" y="1211262"/>
            <a:ext cx="2619375" cy="1743075"/>
          </a:xfrm>
          <a:prstGeom prst="rect">
            <a:avLst/>
          </a:prstGeom>
        </p:spPr>
      </p:pic>
    </p:spTree>
    <p:extLst>
      <p:ext uri="{BB962C8B-B14F-4D97-AF65-F5344CB8AC3E}">
        <p14:creationId xmlns:p14="http://schemas.microsoft.com/office/powerpoint/2010/main" val="26772443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latin typeface="Cambria" panose="02040503050406030204" pitchFamily="18" charset="0"/>
                <a:ea typeface="Cambria" panose="02040503050406030204" pitchFamily="18" charset="0"/>
              </a:rPr>
              <a:t>INTRODUCTION</a:t>
            </a:r>
            <a:endParaRPr lang="en-IN"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007534" y="1588559"/>
            <a:ext cx="10515600" cy="4351338"/>
          </a:xfrm>
        </p:spPr>
        <p:txBody>
          <a:bodyPr>
            <a:normAutofit/>
          </a:bodyPr>
          <a:lstStyle/>
          <a:p>
            <a:pPr marL="0" indent="0">
              <a:buNone/>
            </a:pPr>
            <a:r>
              <a:rPr lang="en-US" sz="3200" dirty="0" smtClean="0">
                <a:solidFill>
                  <a:schemeClr val="bg1"/>
                </a:solidFill>
                <a:ea typeface="Cambria" panose="02040503050406030204" pitchFamily="18" charset="0"/>
              </a:rPr>
              <a:t>Netflix continuously adds new content to attract and retain viewers worldwide. This project analyzes Netflix content performance and growth by examining content type, genre, ratings, and year-wise additions. The insights help understand how Netflix builds and manages its content library over time.</a:t>
            </a:r>
            <a:endParaRPr lang="en-IN" sz="3200" dirty="0">
              <a:solidFill>
                <a:schemeClr val="bg1"/>
              </a:solidFill>
              <a:ea typeface="Cambria" panose="02040503050406030204" pitchFamily="18" charset="0"/>
            </a:endParaRPr>
          </a:p>
        </p:txBody>
      </p:sp>
    </p:spTree>
    <p:extLst>
      <p:ext uri="{BB962C8B-B14F-4D97-AF65-F5344CB8AC3E}">
        <p14:creationId xmlns:p14="http://schemas.microsoft.com/office/powerpoint/2010/main" val="35660498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latin typeface="Cambria" panose="02040503050406030204" pitchFamily="18" charset="0"/>
                <a:ea typeface="Cambria" panose="02040503050406030204" pitchFamily="18" charset="0"/>
              </a:rPr>
              <a:t>Dataset</a:t>
            </a:r>
            <a:endParaRPr lang="en-IN"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fontScale="85000" lnSpcReduction="20000"/>
          </a:bodyPr>
          <a:lstStyle/>
          <a:p>
            <a:r>
              <a:rPr lang="en-US" dirty="0" smtClean="0">
                <a:solidFill>
                  <a:schemeClr val="bg1"/>
                </a:solidFill>
              </a:rPr>
              <a:t>Show ID</a:t>
            </a:r>
          </a:p>
          <a:p>
            <a:r>
              <a:rPr lang="en-US" dirty="0" smtClean="0">
                <a:solidFill>
                  <a:schemeClr val="bg1"/>
                </a:solidFill>
              </a:rPr>
              <a:t>Title</a:t>
            </a:r>
          </a:p>
          <a:p>
            <a:r>
              <a:rPr lang="en-US" dirty="0" smtClean="0">
                <a:solidFill>
                  <a:schemeClr val="bg1"/>
                </a:solidFill>
              </a:rPr>
              <a:t>Type</a:t>
            </a:r>
          </a:p>
          <a:p>
            <a:r>
              <a:rPr lang="en-US" dirty="0" smtClean="0">
                <a:solidFill>
                  <a:schemeClr val="bg1"/>
                </a:solidFill>
              </a:rPr>
              <a:t>Genre</a:t>
            </a:r>
          </a:p>
          <a:p>
            <a:r>
              <a:rPr lang="en-US" dirty="0" smtClean="0">
                <a:solidFill>
                  <a:schemeClr val="bg1"/>
                </a:solidFill>
              </a:rPr>
              <a:t>Country</a:t>
            </a:r>
          </a:p>
          <a:p>
            <a:r>
              <a:rPr lang="en-US" dirty="0" smtClean="0">
                <a:solidFill>
                  <a:schemeClr val="bg1"/>
                </a:solidFill>
              </a:rPr>
              <a:t>Release Year</a:t>
            </a:r>
          </a:p>
          <a:p>
            <a:r>
              <a:rPr lang="en-US" dirty="0" smtClean="0">
                <a:solidFill>
                  <a:schemeClr val="bg1"/>
                </a:solidFill>
              </a:rPr>
              <a:t>Rating</a:t>
            </a:r>
          </a:p>
          <a:p>
            <a:r>
              <a:rPr lang="en-US" dirty="0" smtClean="0">
                <a:solidFill>
                  <a:schemeClr val="bg1"/>
                </a:solidFill>
              </a:rPr>
              <a:t>Duration Minutes</a:t>
            </a:r>
          </a:p>
          <a:p>
            <a:r>
              <a:rPr lang="en-US" dirty="0" smtClean="0">
                <a:solidFill>
                  <a:schemeClr val="bg1"/>
                </a:solidFill>
              </a:rPr>
              <a:t>Viewership Millions</a:t>
            </a:r>
          </a:p>
          <a:p>
            <a:r>
              <a:rPr lang="en-US" dirty="0" smtClean="0">
                <a:solidFill>
                  <a:schemeClr val="bg1"/>
                </a:solidFill>
              </a:rPr>
              <a:t>User Rating</a:t>
            </a:r>
          </a:p>
          <a:p>
            <a:r>
              <a:rPr lang="en-US" dirty="0" smtClean="0">
                <a:solidFill>
                  <a:schemeClr val="bg1"/>
                </a:solidFill>
              </a:rPr>
              <a:t>Content Type</a:t>
            </a:r>
          </a:p>
          <a:p>
            <a:endParaRPr lang="en-US" dirty="0" smtClean="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6076850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latin typeface="Cambria" panose="02040503050406030204" pitchFamily="18" charset="0"/>
                <a:ea typeface="Cambria" panose="02040503050406030204" pitchFamily="18" charset="0"/>
              </a:rPr>
              <a:t>Business Queries</a:t>
            </a:r>
            <a:endParaRPr lang="en-IN"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marL="514350" lvl="0" indent="-514350">
              <a:buFont typeface="+mj-lt"/>
              <a:buAutoNum type="arabicPeriod"/>
            </a:pPr>
            <a:r>
              <a:rPr lang="en-IN" b="1" dirty="0" smtClean="0">
                <a:solidFill>
                  <a:schemeClr val="bg1"/>
                </a:solidFill>
                <a:ea typeface="Cambria" panose="02040503050406030204" pitchFamily="18" charset="0"/>
              </a:rPr>
              <a:t>Do viewers watch TV shows more than movies on Netflix?</a:t>
            </a:r>
            <a:endParaRPr lang="en-IN" dirty="0">
              <a:solidFill>
                <a:schemeClr val="bg1"/>
              </a:solidFill>
              <a:ea typeface="Cambria" panose="02040503050406030204" pitchFamily="18" charset="0"/>
            </a:endParaRPr>
          </a:p>
          <a:p>
            <a:pPr marL="514350" lvl="0" indent="-514350">
              <a:buFont typeface="+mj-lt"/>
              <a:buAutoNum type="arabicPeriod"/>
            </a:pPr>
            <a:r>
              <a:rPr lang="en-IN" b="1" dirty="0">
                <a:solidFill>
                  <a:schemeClr val="bg1"/>
                </a:solidFill>
                <a:ea typeface="Cambria" panose="02040503050406030204" pitchFamily="18" charset="0"/>
              </a:rPr>
              <a:t>How has Netflix viewership changed over time?</a:t>
            </a:r>
            <a:endParaRPr lang="en-IN" dirty="0">
              <a:solidFill>
                <a:schemeClr val="bg1"/>
              </a:solidFill>
              <a:ea typeface="Cambria" panose="02040503050406030204" pitchFamily="18" charset="0"/>
            </a:endParaRPr>
          </a:p>
          <a:p>
            <a:pPr marL="514350" lvl="0" indent="-514350">
              <a:buFont typeface="+mj-lt"/>
              <a:buAutoNum type="arabicPeriod"/>
            </a:pPr>
            <a:r>
              <a:rPr lang="en-IN" b="1" dirty="0">
                <a:solidFill>
                  <a:schemeClr val="bg1"/>
                </a:solidFill>
                <a:ea typeface="Cambria" panose="02040503050406030204" pitchFamily="18" charset="0"/>
              </a:rPr>
              <a:t>Which genres perform well in different countries?</a:t>
            </a:r>
            <a:endParaRPr lang="en-IN" dirty="0">
              <a:solidFill>
                <a:schemeClr val="bg1"/>
              </a:solidFill>
              <a:ea typeface="Cambria" panose="02040503050406030204" pitchFamily="18" charset="0"/>
            </a:endParaRPr>
          </a:p>
          <a:p>
            <a:pPr marL="514350" lvl="0" indent="-514350">
              <a:buFont typeface="+mj-lt"/>
              <a:buAutoNum type="arabicPeriod"/>
            </a:pPr>
            <a:r>
              <a:rPr lang="en-IN" b="1" dirty="0" smtClean="0">
                <a:solidFill>
                  <a:schemeClr val="bg1"/>
                </a:solidFill>
                <a:ea typeface="Cambria" panose="02040503050406030204" pitchFamily="18" charset="0"/>
              </a:rPr>
              <a:t>Do Netflix Originals perform better than Licensed </a:t>
            </a:r>
            <a:r>
              <a:rPr lang="en-IN" b="1" dirty="0">
                <a:solidFill>
                  <a:schemeClr val="bg1"/>
                </a:solidFill>
                <a:ea typeface="Cambria" panose="02040503050406030204" pitchFamily="18" charset="0"/>
              </a:rPr>
              <a:t>content?</a:t>
            </a:r>
            <a:endParaRPr lang="en-IN" dirty="0">
              <a:solidFill>
                <a:schemeClr val="bg1"/>
              </a:solidFill>
              <a:ea typeface="Cambria" panose="02040503050406030204" pitchFamily="18" charset="0"/>
            </a:endParaRPr>
          </a:p>
          <a:p>
            <a:pPr marL="514350" lvl="0" indent="-514350">
              <a:buFont typeface="+mj-lt"/>
              <a:buAutoNum type="arabicPeriod"/>
            </a:pPr>
            <a:r>
              <a:rPr lang="en-IN" b="1" dirty="0">
                <a:solidFill>
                  <a:schemeClr val="bg1"/>
                </a:solidFill>
                <a:ea typeface="Cambria" panose="02040503050406030204" pitchFamily="18" charset="0"/>
              </a:rPr>
              <a:t>How do content ratings affect performance?</a:t>
            </a:r>
            <a:endParaRPr lang="en-IN" dirty="0">
              <a:solidFill>
                <a:schemeClr val="bg1"/>
              </a:solidFill>
              <a:ea typeface="Cambria" panose="02040503050406030204" pitchFamily="18" charset="0"/>
            </a:endParaRPr>
          </a:p>
          <a:p>
            <a:pPr marL="514350" lvl="0" indent="-514350">
              <a:buFont typeface="+mj-lt"/>
              <a:buAutoNum type="arabicPeriod"/>
            </a:pPr>
            <a:r>
              <a:rPr lang="en-IN" b="1" dirty="0">
                <a:solidFill>
                  <a:schemeClr val="bg1"/>
                </a:solidFill>
                <a:ea typeface="Cambria" panose="02040503050406030204" pitchFamily="18" charset="0"/>
              </a:rPr>
              <a:t>Which countries contribute most to Netflix performance?</a:t>
            </a:r>
            <a:endParaRPr lang="en-IN" dirty="0">
              <a:solidFill>
                <a:schemeClr val="bg1"/>
              </a:solidFill>
              <a:ea typeface="Cambria" panose="02040503050406030204" pitchFamily="18" charset="0"/>
            </a:endParaRPr>
          </a:p>
          <a:p>
            <a:pPr marL="514350" lvl="0" indent="-514350">
              <a:buFont typeface="+mj-lt"/>
              <a:buAutoNum type="arabicPeriod"/>
            </a:pPr>
            <a:r>
              <a:rPr lang="en-IN" b="1" dirty="0">
                <a:solidFill>
                  <a:schemeClr val="bg1"/>
                </a:solidFill>
                <a:ea typeface="Cambria" panose="02040503050406030204" pitchFamily="18" charset="0"/>
              </a:rPr>
              <a:t>How has Netflix’s content library grown over time?</a:t>
            </a:r>
            <a:endParaRPr lang="en-IN" dirty="0">
              <a:solidFill>
                <a:schemeClr val="bg1"/>
              </a:solidFill>
              <a:ea typeface="Cambria" panose="02040503050406030204" pitchFamily="18" charset="0"/>
            </a:endParaRPr>
          </a:p>
          <a:p>
            <a:pPr marL="0" indent="0">
              <a:buNone/>
            </a:pPr>
            <a:endParaRPr lang="en-IN" dirty="0">
              <a:solidFill>
                <a:schemeClr val="bg1"/>
              </a:solidFill>
              <a:ea typeface="Cambria" panose="02040503050406030204" pitchFamily="18" charset="0"/>
            </a:endParaRPr>
          </a:p>
        </p:txBody>
      </p:sp>
    </p:spTree>
    <p:extLst>
      <p:ext uri="{BB962C8B-B14F-4D97-AF65-F5344CB8AC3E}">
        <p14:creationId xmlns:p14="http://schemas.microsoft.com/office/powerpoint/2010/main" val="35313562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latin typeface="Cambria" panose="02040503050406030204" pitchFamily="18" charset="0"/>
                <a:ea typeface="Cambria" panose="02040503050406030204" pitchFamily="18" charset="0"/>
              </a:rPr>
              <a:t>Key Metrics</a:t>
            </a:r>
            <a:endParaRPr lang="en-IN"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fontScale="92500" lnSpcReduction="20000"/>
          </a:bodyPr>
          <a:lstStyle/>
          <a:p>
            <a:r>
              <a:rPr lang="en-US" dirty="0" smtClean="0">
                <a:solidFill>
                  <a:schemeClr val="bg1"/>
                </a:solidFill>
              </a:rPr>
              <a:t>Total Viewership</a:t>
            </a:r>
          </a:p>
          <a:p>
            <a:pPr marL="0" indent="0">
              <a:buNone/>
            </a:pPr>
            <a:r>
              <a:rPr lang="en-US" dirty="0" smtClean="0">
                <a:solidFill>
                  <a:schemeClr val="bg1"/>
                </a:solidFill>
              </a:rPr>
              <a:t>        Represents the overall number of views</a:t>
            </a:r>
          </a:p>
          <a:p>
            <a:r>
              <a:rPr lang="en-US" dirty="0" smtClean="0">
                <a:solidFill>
                  <a:schemeClr val="bg1"/>
                </a:solidFill>
              </a:rPr>
              <a:t>Start date</a:t>
            </a:r>
          </a:p>
          <a:p>
            <a:pPr marL="0" indent="0">
              <a:buNone/>
            </a:pPr>
            <a:r>
              <a:rPr lang="en-US" dirty="0">
                <a:solidFill>
                  <a:schemeClr val="bg1"/>
                </a:solidFill>
              </a:rPr>
              <a:t> </a:t>
            </a:r>
            <a:r>
              <a:rPr lang="en-US" dirty="0" smtClean="0">
                <a:solidFill>
                  <a:schemeClr val="bg1"/>
                </a:solidFill>
              </a:rPr>
              <a:t>       Indicates the earliest release date of content</a:t>
            </a:r>
            <a:endParaRPr lang="en-US" dirty="0" smtClean="0">
              <a:solidFill>
                <a:schemeClr val="bg1"/>
              </a:solidFill>
            </a:endParaRPr>
          </a:p>
          <a:p>
            <a:r>
              <a:rPr lang="en-US" dirty="0" smtClean="0">
                <a:solidFill>
                  <a:schemeClr val="bg1"/>
                </a:solidFill>
              </a:rPr>
              <a:t>End date</a:t>
            </a:r>
          </a:p>
          <a:p>
            <a:pPr marL="0" indent="0">
              <a:buNone/>
            </a:pPr>
            <a:r>
              <a:rPr lang="en-US" dirty="0">
                <a:solidFill>
                  <a:schemeClr val="bg1"/>
                </a:solidFill>
              </a:rPr>
              <a:t> </a:t>
            </a:r>
            <a:r>
              <a:rPr lang="en-US" dirty="0" smtClean="0">
                <a:solidFill>
                  <a:schemeClr val="bg1"/>
                </a:solidFill>
              </a:rPr>
              <a:t>       Indicates the most recent release date of content</a:t>
            </a:r>
          </a:p>
          <a:p>
            <a:r>
              <a:rPr lang="en-US" dirty="0" smtClean="0">
                <a:solidFill>
                  <a:schemeClr val="bg1"/>
                </a:solidFill>
              </a:rPr>
              <a:t>Ratings</a:t>
            </a:r>
          </a:p>
          <a:p>
            <a:pPr marL="0" indent="0">
              <a:buNone/>
            </a:pPr>
            <a:r>
              <a:rPr lang="en-US" dirty="0">
                <a:solidFill>
                  <a:schemeClr val="bg1"/>
                </a:solidFill>
              </a:rPr>
              <a:t> </a:t>
            </a:r>
            <a:r>
              <a:rPr lang="en-US" dirty="0" smtClean="0">
                <a:solidFill>
                  <a:schemeClr val="bg1"/>
                </a:solidFill>
              </a:rPr>
              <a:t>        Average rating of users</a:t>
            </a:r>
            <a:endParaRPr lang="en-US" dirty="0" smtClean="0">
              <a:solidFill>
                <a:schemeClr val="bg1"/>
              </a:solidFill>
            </a:endParaRPr>
          </a:p>
          <a:p>
            <a:r>
              <a:rPr lang="en-US" dirty="0" smtClean="0">
                <a:solidFill>
                  <a:schemeClr val="bg1"/>
                </a:solidFill>
              </a:rPr>
              <a:t>Total Titles</a:t>
            </a:r>
          </a:p>
          <a:p>
            <a:pPr marL="0" indent="0">
              <a:buNone/>
            </a:pPr>
            <a:r>
              <a:rPr lang="en-US" dirty="0" smtClean="0">
                <a:solidFill>
                  <a:schemeClr val="bg1"/>
                </a:solidFill>
              </a:rPr>
              <a:t>         Total number of movies and TV shows</a:t>
            </a:r>
            <a:endParaRPr lang="en-IN" dirty="0">
              <a:solidFill>
                <a:schemeClr val="bg1"/>
              </a:solidFill>
            </a:endParaRPr>
          </a:p>
        </p:txBody>
      </p:sp>
    </p:spTree>
    <p:extLst>
      <p:ext uri="{BB962C8B-B14F-4D97-AF65-F5344CB8AC3E}">
        <p14:creationId xmlns:p14="http://schemas.microsoft.com/office/powerpoint/2010/main" val="2361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204259"/>
            <a:ext cx="10515600" cy="859803"/>
          </a:xfrm>
        </p:spPr>
        <p:txBody>
          <a:bodyPr>
            <a:normAutofit/>
          </a:bodyPr>
          <a:lstStyle/>
          <a:p>
            <a:pPr marL="514350" lvl="0" indent="-514350" algn="ctr"/>
            <a:r>
              <a:rPr lang="en-IN" sz="3200" b="1" dirty="0" smtClean="0">
                <a:solidFill>
                  <a:srgbClr val="FF0000"/>
                </a:solidFill>
                <a:latin typeface="Cambria" panose="02040503050406030204" pitchFamily="18" charset="0"/>
                <a:ea typeface="Cambria" panose="02040503050406030204" pitchFamily="18" charset="0"/>
              </a:rPr>
              <a:t>Which Netflix movies and TV shows perform the </a:t>
            </a:r>
            <a:r>
              <a:rPr lang="en-IN" sz="3200" b="1" dirty="0" smtClean="0">
                <a:solidFill>
                  <a:srgbClr val="FF0000"/>
                </a:solidFill>
                <a:latin typeface="Cambria" panose="02040503050406030204" pitchFamily="18" charset="0"/>
                <a:ea typeface="Cambria" panose="02040503050406030204" pitchFamily="18" charset="0"/>
              </a:rPr>
              <a:t>best?</a:t>
            </a:r>
            <a:endParaRPr lang="en-IN" sz="3200" dirty="0">
              <a:solidFill>
                <a:srgbClr val="FF000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44174" y="1371304"/>
            <a:ext cx="5119225" cy="2402387"/>
          </a:xfrm>
        </p:spPr>
      </p:pic>
      <p:sp>
        <p:nvSpPr>
          <p:cNvPr id="5" name="Rounded Rectangle 4"/>
          <p:cNvSpPr/>
          <p:nvPr/>
        </p:nvSpPr>
        <p:spPr>
          <a:xfrm>
            <a:off x="431798" y="1156168"/>
            <a:ext cx="5935133" cy="5235045"/>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rPr>
              <a:t>Why this chart?</a:t>
            </a:r>
            <a:endParaRPr lang="en-US" b="1" dirty="0">
              <a:solidFill>
                <a:srgbClr val="FF0000"/>
              </a:solidFill>
            </a:endParaRPr>
          </a:p>
          <a:p>
            <a:pPr marL="285750" indent="-285750">
              <a:buFont typeface="Wingdings" panose="05000000000000000000" pitchFamily="2" charset="2"/>
              <a:buChar char="§"/>
            </a:pPr>
            <a:r>
              <a:rPr lang="en-US" dirty="0"/>
              <a:t>Identify </a:t>
            </a:r>
            <a:r>
              <a:rPr lang="en-US" b="1" dirty="0"/>
              <a:t>viewer preference</a:t>
            </a:r>
            <a:r>
              <a:rPr lang="en-US" dirty="0"/>
              <a:t> between Movies and TV Shows</a:t>
            </a:r>
          </a:p>
          <a:p>
            <a:pPr marL="285750" indent="-285750">
              <a:buFont typeface="Wingdings" panose="05000000000000000000" pitchFamily="2" charset="2"/>
              <a:buChar char="§"/>
            </a:pPr>
            <a:r>
              <a:rPr lang="en-US" dirty="0"/>
              <a:t>Support </a:t>
            </a:r>
            <a:r>
              <a:rPr lang="en-US" b="1" dirty="0"/>
              <a:t>content investment decisions</a:t>
            </a:r>
            <a:endParaRPr lang="en-US" dirty="0"/>
          </a:p>
          <a:p>
            <a:pPr marL="285750" indent="-285750">
              <a:buFont typeface="Wingdings" panose="05000000000000000000" pitchFamily="2" charset="2"/>
              <a:buChar char="§"/>
            </a:pPr>
            <a:r>
              <a:rPr lang="en-US" dirty="0"/>
              <a:t>Understand </a:t>
            </a:r>
            <a:r>
              <a:rPr lang="en-US" b="1" dirty="0"/>
              <a:t>content consumption </a:t>
            </a:r>
            <a:r>
              <a:rPr lang="en-US" b="1" dirty="0" smtClean="0"/>
              <a:t>patterns</a:t>
            </a:r>
          </a:p>
          <a:p>
            <a:pPr marL="285750" indent="-285750">
              <a:buFont typeface="Wingdings" panose="05000000000000000000" pitchFamily="2" charset="2"/>
              <a:buChar char="§"/>
            </a:pPr>
            <a:endParaRPr lang="en-US" b="1" dirty="0"/>
          </a:p>
          <a:p>
            <a:endParaRPr lang="en-US" b="1" dirty="0" smtClean="0"/>
          </a:p>
          <a:p>
            <a:r>
              <a:rPr lang="en-US" b="1" dirty="0">
                <a:solidFill>
                  <a:srgbClr val="FF0000"/>
                </a:solidFill>
              </a:rPr>
              <a:t>Chart </a:t>
            </a:r>
            <a:r>
              <a:rPr lang="en-US" b="1" dirty="0" smtClean="0">
                <a:solidFill>
                  <a:srgbClr val="FF0000"/>
                </a:solidFill>
              </a:rPr>
              <a:t>Explanation:</a:t>
            </a:r>
            <a:endParaRPr lang="en-US" b="1" dirty="0">
              <a:solidFill>
                <a:srgbClr val="FF0000"/>
              </a:solidFill>
            </a:endParaRPr>
          </a:p>
          <a:p>
            <a:pPr marL="285750" indent="-285750">
              <a:buFont typeface="Wingdings" panose="05000000000000000000" pitchFamily="2" charset="2"/>
              <a:buChar char="§"/>
            </a:pPr>
            <a:r>
              <a:rPr lang="en-US" dirty="0"/>
              <a:t>This is a </a:t>
            </a:r>
            <a:r>
              <a:rPr lang="en-US" b="1" dirty="0"/>
              <a:t>donut chart</a:t>
            </a:r>
            <a:r>
              <a:rPr lang="en-US" dirty="0"/>
              <a:t> showing the distribution of </a:t>
            </a:r>
            <a:r>
              <a:rPr lang="en-US" b="1" dirty="0"/>
              <a:t>Movies and TV Shows</a:t>
            </a:r>
            <a:endParaRPr lang="en-US" dirty="0"/>
          </a:p>
          <a:p>
            <a:pPr marL="285750" indent="-285750">
              <a:buFont typeface="Wingdings" panose="05000000000000000000" pitchFamily="2" charset="2"/>
              <a:buChar char="§"/>
            </a:pPr>
            <a:r>
              <a:rPr lang="en-US" dirty="0"/>
              <a:t>Each segment represents the </a:t>
            </a:r>
            <a:r>
              <a:rPr lang="en-US" b="1" dirty="0"/>
              <a:t>total viewership count</a:t>
            </a:r>
            <a:endParaRPr lang="en-US" dirty="0"/>
          </a:p>
          <a:p>
            <a:pPr marL="285750" indent="-285750">
              <a:buFont typeface="Wingdings" panose="05000000000000000000" pitchFamily="2" charset="2"/>
              <a:buChar char="§"/>
            </a:pPr>
            <a:r>
              <a:rPr lang="en-US" dirty="0"/>
              <a:t>Movies contribute </a:t>
            </a:r>
            <a:r>
              <a:rPr lang="en-US" b="1" dirty="0"/>
              <a:t>75.46K (50.53%)</a:t>
            </a:r>
            <a:endParaRPr lang="en-US" dirty="0"/>
          </a:p>
          <a:p>
            <a:pPr marL="285750" indent="-285750">
              <a:buFont typeface="Wingdings" panose="05000000000000000000" pitchFamily="2" charset="2"/>
              <a:buChar char="§"/>
            </a:pPr>
            <a:r>
              <a:rPr lang="en-US" dirty="0"/>
              <a:t>TV Shows contribute </a:t>
            </a:r>
            <a:r>
              <a:rPr lang="en-US" b="1" dirty="0"/>
              <a:t>73.87K (49.47%)</a:t>
            </a:r>
            <a:endParaRPr lang="en-US" dirty="0"/>
          </a:p>
          <a:p>
            <a:endParaRPr lang="en-US" dirty="0"/>
          </a:p>
        </p:txBody>
      </p:sp>
      <p:sp>
        <p:nvSpPr>
          <p:cNvPr id="8" name="Rounded Rectangle 7"/>
          <p:cNvSpPr/>
          <p:nvPr/>
        </p:nvSpPr>
        <p:spPr>
          <a:xfrm>
            <a:off x="6844173" y="4080933"/>
            <a:ext cx="4983759" cy="2082800"/>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rPr>
              <a:t>Conclusion:</a:t>
            </a:r>
            <a:endParaRPr lang="en-US" b="1" dirty="0">
              <a:solidFill>
                <a:srgbClr val="FF0000"/>
              </a:solidFill>
            </a:endParaRPr>
          </a:p>
          <a:p>
            <a:r>
              <a:rPr lang="en-US" dirty="0"/>
              <a:t>Netflix does not rely on a single content type.</a:t>
            </a:r>
            <a:br>
              <a:rPr lang="en-US" dirty="0"/>
            </a:br>
            <a:r>
              <a:rPr lang="en-US" dirty="0"/>
              <a:t>Both </a:t>
            </a:r>
            <a:r>
              <a:rPr lang="en-US" b="1" dirty="0"/>
              <a:t>Movies and TV Shows perform almost equally well</a:t>
            </a:r>
            <a:r>
              <a:rPr lang="en-US" dirty="0"/>
              <a:t>, showing a </a:t>
            </a:r>
            <a:r>
              <a:rPr lang="en-US" b="1" dirty="0"/>
              <a:t>balanced content strategy</a:t>
            </a:r>
            <a:r>
              <a:rPr lang="en-US" dirty="0"/>
              <a:t>.</a:t>
            </a:r>
            <a:br>
              <a:rPr lang="en-US" dirty="0"/>
            </a:br>
            <a:endParaRPr lang="en-US" dirty="0"/>
          </a:p>
        </p:txBody>
      </p:sp>
    </p:spTree>
    <p:extLst>
      <p:ext uri="{BB962C8B-B14F-4D97-AF65-F5344CB8AC3E}">
        <p14:creationId xmlns:p14="http://schemas.microsoft.com/office/powerpoint/2010/main" val="5299407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258"/>
            <a:ext cx="10515600" cy="930275"/>
          </a:xfrm>
        </p:spPr>
        <p:txBody>
          <a:bodyPr>
            <a:normAutofit/>
          </a:bodyPr>
          <a:lstStyle/>
          <a:p>
            <a:pPr algn="ctr"/>
            <a:r>
              <a:rPr lang="en-IN" sz="3200" b="1" dirty="0" smtClean="0">
                <a:solidFill>
                  <a:srgbClr val="FF0000"/>
                </a:solidFill>
                <a:latin typeface="Cambria" panose="02040503050406030204" pitchFamily="18" charset="0"/>
                <a:ea typeface="Cambria" panose="02040503050406030204" pitchFamily="18" charset="0"/>
              </a:rPr>
              <a:t>How has Netflix viewership changed over </a:t>
            </a:r>
            <a:r>
              <a:rPr lang="en-IN" sz="3200" b="1" dirty="0" smtClean="0">
                <a:solidFill>
                  <a:srgbClr val="FF0000"/>
                </a:solidFill>
                <a:latin typeface="Cambria" panose="02040503050406030204" pitchFamily="18" charset="0"/>
                <a:ea typeface="Cambria" panose="02040503050406030204" pitchFamily="18" charset="0"/>
              </a:rPr>
              <a:t>time?</a:t>
            </a:r>
            <a:endParaRPr lang="en-IN" sz="3200" dirty="0">
              <a:solidFill>
                <a:srgbClr val="FF0000"/>
              </a:solidFill>
              <a:latin typeface="Cambria" panose="02040503050406030204" pitchFamily="18" charset="0"/>
              <a:ea typeface="Cambria" panose="02040503050406030204" pitchFamily="18" charset="0"/>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05133" y="1007533"/>
            <a:ext cx="4717501" cy="2318577"/>
          </a:xfrm>
        </p:spPr>
      </p:pic>
      <p:sp>
        <p:nvSpPr>
          <p:cNvPr id="7" name="Rounded Rectangle 6"/>
          <p:cNvSpPr/>
          <p:nvPr/>
        </p:nvSpPr>
        <p:spPr>
          <a:xfrm>
            <a:off x="380999" y="1007533"/>
            <a:ext cx="6366933" cy="5545667"/>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rPr>
              <a:t>Why this Chart?</a:t>
            </a:r>
          </a:p>
          <a:p>
            <a:r>
              <a:rPr lang="en-US" dirty="0" smtClean="0"/>
              <a:t>Line chart </a:t>
            </a:r>
            <a:r>
              <a:rPr lang="en-US" dirty="0"/>
              <a:t>is used to </a:t>
            </a:r>
            <a:r>
              <a:rPr lang="en-US" b="1" dirty="0"/>
              <a:t>analyze how Netflix viewership has changed over time</a:t>
            </a:r>
            <a:r>
              <a:rPr lang="en-US" dirty="0"/>
              <a:t>.</a:t>
            </a:r>
            <a:br>
              <a:rPr lang="en-US" dirty="0"/>
            </a:br>
            <a:r>
              <a:rPr lang="en-US" dirty="0"/>
              <a:t>It helps understand </a:t>
            </a:r>
            <a:r>
              <a:rPr lang="en-US" b="1" dirty="0"/>
              <a:t>growth trends, fluctuations, and long-term viewer engagement</a:t>
            </a:r>
            <a:r>
              <a:rPr lang="en-US" dirty="0"/>
              <a:t> instead of focusing on sales or revenue</a:t>
            </a:r>
            <a:r>
              <a:rPr lang="en-US" dirty="0" smtClean="0"/>
              <a:t>.</a:t>
            </a:r>
          </a:p>
          <a:p>
            <a:endParaRPr lang="en-US" dirty="0" smtClean="0"/>
          </a:p>
          <a:p>
            <a:r>
              <a:rPr lang="en-US" b="1" dirty="0" smtClean="0">
                <a:solidFill>
                  <a:srgbClr val="FF0000"/>
                </a:solidFill>
              </a:rPr>
              <a:t>Explanation:</a:t>
            </a:r>
            <a:endParaRPr lang="en-US" b="1" dirty="0">
              <a:solidFill>
                <a:srgbClr val="FF0000"/>
              </a:solidFill>
            </a:endParaRPr>
          </a:p>
          <a:p>
            <a:r>
              <a:rPr lang="en-US" dirty="0"/>
              <a:t>This is a </a:t>
            </a:r>
            <a:r>
              <a:rPr lang="en-US" b="1" dirty="0"/>
              <a:t>line chart</a:t>
            </a:r>
            <a:r>
              <a:rPr lang="en-US" dirty="0"/>
              <a:t> showing </a:t>
            </a:r>
            <a:r>
              <a:rPr lang="en-US" b="1" dirty="0"/>
              <a:t>viewership trend over years</a:t>
            </a:r>
            <a:endParaRPr lang="en-US" dirty="0"/>
          </a:p>
          <a:p>
            <a:r>
              <a:rPr lang="en-US" b="1" dirty="0"/>
              <a:t>X-axis</a:t>
            </a:r>
            <a:r>
              <a:rPr lang="en-US" dirty="0"/>
              <a:t> represents the </a:t>
            </a:r>
            <a:r>
              <a:rPr lang="en-US" b="1" dirty="0"/>
              <a:t>years</a:t>
            </a:r>
            <a:endParaRPr lang="en-US" dirty="0"/>
          </a:p>
          <a:p>
            <a:r>
              <a:rPr lang="en-US" b="1" dirty="0"/>
              <a:t>Y-axis</a:t>
            </a:r>
            <a:r>
              <a:rPr lang="en-US" dirty="0"/>
              <a:t> represents the </a:t>
            </a:r>
            <a:r>
              <a:rPr lang="en-US" b="1" dirty="0"/>
              <a:t>viewership count</a:t>
            </a:r>
            <a:endParaRPr lang="en-US" dirty="0"/>
          </a:p>
          <a:p>
            <a:r>
              <a:rPr lang="en-US" dirty="0"/>
              <a:t>The red line indicates changes in viewer engagement year by year</a:t>
            </a:r>
          </a:p>
          <a:p>
            <a:endParaRPr lang="en-IN" dirty="0"/>
          </a:p>
        </p:txBody>
      </p:sp>
      <p:sp>
        <p:nvSpPr>
          <p:cNvPr id="8" name="Rounded Rectangle 7"/>
          <p:cNvSpPr/>
          <p:nvPr/>
        </p:nvSpPr>
        <p:spPr>
          <a:xfrm>
            <a:off x="7205132" y="3572933"/>
            <a:ext cx="4631267" cy="2895600"/>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rPr>
              <a:t>Conclusion:</a:t>
            </a:r>
            <a:endParaRPr lang="en-US" b="1" dirty="0">
              <a:solidFill>
                <a:srgbClr val="FF0000"/>
              </a:solidFill>
            </a:endParaRPr>
          </a:p>
          <a:p>
            <a:r>
              <a:rPr lang="en-US" dirty="0"/>
              <a:t>Netflix viewership has </a:t>
            </a:r>
            <a:r>
              <a:rPr lang="en-US" b="1" dirty="0"/>
              <a:t>grown steadily over time despite minor fluctuations</a:t>
            </a:r>
            <a:r>
              <a:rPr lang="en-US" dirty="0"/>
              <a:t>.</a:t>
            </a:r>
            <a:br>
              <a:rPr lang="en-US" dirty="0"/>
            </a:br>
            <a:r>
              <a:rPr lang="en-US" dirty="0"/>
              <a:t>The overall upward trend indicates </a:t>
            </a:r>
            <a:r>
              <a:rPr lang="en-US" b="1" dirty="0"/>
              <a:t>strong audience retention and increasing platform popularity</a:t>
            </a:r>
            <a:r>
              <a:rPr lang="en-US" dirty="0"/>
              <a:t>.</a:t>
            </a:r>
            <a:br>
              <a:rPr lang="en-US" dirty="0"/>
            </a:br>
            <a:r>
              <a:rPr lang="en-US" dirty="0"/>
              <a:t>This suggests that Netflix’s </a:t>
            </a:r>
            <a:r>
              <a:rPr lang="en-US" b="1" dirty="0"/>
              <a:t>content strategy and expansion efforts are effective</a:t>
            </a:r>
            <a:r>
              <a:rPr lang="en-US" dirty="0"/>
              <a:t> in maintaining long-term viewer interest.</a:t>
            </a:r>
          </a:p>
        </p:txBody>
      </p:sp>
    </p:spTree>
    <p:extLst>
      <p:ext uri="{BB962C8B-B14F-4D97-AF65-F5344CB8AC3E}">
        <p14:creationId xmlns:p14="http://schemas.microsoft.com/office/powerpoint/2010/main" val="903844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267" y="136526"/>
            <a:ext cx="10515600" cy="794808"/>
          </a:xfrm>
        </p:spPr>
        <p:txBody>
          <a:bodyPr>
            <a:normAutofit/>
          </a:bodyPr>
          <a:lstStyle/>
          <a:p>
            <a:pPr algn="ctr"/>
            <a:r>
              <a:rPr lang="en-IN" sz="3200" b="1" dirty="0" smtClean="0">
                <a:solidFill>
                  <a:srgbClr val="FF0000"/>
                </a:solidFill>
                <a:latin typeface="Cambria" panose="02040503050406030204" pitchFamily="18" charset="0"/>
                <a:ea typeface="Cambria" panose="02040503050406030204" pitchFamily="18" charset="0"/>
              </a:rPr>
              <a:t>Which genres perform well in different </a:t>
            </a:r>
            <a:r>
              <a:rPr lang="en-IN" sz="3200" b="1" dirty="0" smtClean="0">
                <a:solidFill>
                  <a:srgbClr val="FF0000"/>
                </a:solidFill>
                <a:latin typeface="Cambria" panose="02040503050406030204" pitchFamily="18" charset="0"/>
                <a:ea typeface="Cambria" panose="02040503050406030204" pitchFamily="18" charset="0"/>
              </a:rPr>
              <a:t>countries?</a:t>
            </a:r>
            <a:endParaRPr lang="en-IN" sz="3200" dirty="0">
              <a:solidFill>
                <a:srgbClr val="FF000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36466" y="968111"/>
            <a:ext cx="3741293" cy="2616700"/>
          </a:xfrm>
        </p:spPr>
      </p:pic>
      <p:sp>
        <p:nvSpPr>
          <p:cNvPr id="5" name="Rounded Rectangle 4"/>
          <p:cNvSpPr/>
          <p:nvPr/>
        </p:nvSpPr>
        <p:spPr>
          <a:xfrm>
            <a:off x="330199" y="1004888"/>
            <a:ext cx="7408333" cy="5342468"/>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solidFill>
                  <a:srgbClr val="FF0000"/>
                </a:solidFill>
              </a:rPr>
              <a:t>Why this Chart?</a:t>
            </a:r>
          </a:p>
          <a:p>
            <a:r>
              <a:rPr lang="en-US" sz="1600" dirty="0" smtClean="0"/>
              <a:t>The </a:t>
            </a:r>
            <a:r>
              <a:rPr lang="en-US" sz="1600" dirty="0"/>
              <a:t>primary reason for using a stacked bar chart is to show </a:t>
            </a:r>
            <a:r>
              <a:rPr lang="en-US" sz="1600" b="1" dirty="0"/>
              <a:t>part-to-whole relationships</a:t>
            </a:r>
            <a:r>
              <a:rPr lang="en-US" sz="1600" dirty="0"/>
              <a:t>. It allows for a direct comparison of the total performance across different countries while simultaneously showing how much each individual genre contributes to that total. It is an excellent choice when you want to highlight the </a:t>
            </a:r>
            <a:r>
              <a:rPr lang="en-US" sz="1600" b="1" dirty="0"/>
              <a:t>relative proportion</a:t>
            </a:r>
            <a:r>
              <a:rPr lang="en-US" sz="1600" dirty="0"/>
              <a:t> of different categories (genres) within each group (country</a:t>
            </a:r>
            <a:r>
              <a:rPr lang="en-US" sz="1600" dirty="0" smtClean="0"/>
              <a:t>).</a:t>
            </a:r>
          </a:p>
          <a:p>
            <a:endParaRPr lang="en-US" sz="1600" dirty="0"/>
          </a:p>
          <a:p>
            <a:r>
              <a:rPr lang="en-US" sz="1600" b="1" dirty="0" smtClean="0">
                <a:solidFill>
                  <a:srgbClr val="FF0000"/>
                </a:solidFill>
              </a:rPr>
              <a:t>Explanation:</a:t>
            </a:r>
          </a:p>
          <a:p>
            <a:r>
              <a:rPr lang="en-US" sz="1600" b="1" dirty="0"/>
              <a:t>X-Axis (Percentage):</a:t>
            </a:r>
            <a:r>
              <a:rPr lang="en-US" sz="1600" dirty="0"/>
              <a:t> Represents the cumulative performance from 0% to 100%.</a:t>
            </a:r>
          </a:p>
          <a:p>
            <a:r>
              <a:rPr lang="en-US" sz="1600" b="1" dirty="0"/>
              <a:t>Y-Axis (Countries):</a:t>
            </a:r>
            <a:r>
              <a:rPr lang="en-US" sz="1600" dirty="0"/>
              <a:t> Lists various global markets (Canada, Japan, UK, France, Germany, South Korea, USA, India).</a:t>
            </a:r>
          </a:p>
          <a:p>
            <a:r>
              <a:rPr lang="en-US" sz="1600" b="1" dirty="0"/>
              <a:t>Color-Coded Segments:</a:t>
            </a:r>
            <a:r>
              <a:rPr lang="en-US" sz="1600" dirty="0"/>
              <a:t> Each color in a single bar represents a different genre (e.g., Action, Comedy, Drama).</a:t>
            </a:r>
          </a:p>
          <a:p>
            <a:r>
              <a:rPr lang="en-US" sz="1600" b="1" dirty="0"/>
              <a:t>Segment Width:</a:t>
            </a:r>
            <a:r>
              <a:rPr lang="en-US" sz="1600" dirty="0"/>
              <a:t> The wider a colored segment, the higher the performance of that specific genre in that country. For instance, the large red segments for </a:t>
            </a:r>
            <a:r>
              <a:rPr lang="en-US" sz="1600" b="1" dirty="0"/>
              <a:t>South Korea</a:t>
            </a:r>
            <a:r>
              <a:rPr lang="en-US" sz="1600" dirty="0"/>
              <a:t> indicate a dominant preference for </a:t>
            </a:r>
            <a:r>
              <a:rPr lang="en-US" sz="1600" b="1" dirty="0"/>
              <a:t>Drama</a:t>
            </a:r>
            <a:r>
              <a:rPr lang="en-US" sz="1600" dirty="0"/>
              <a:t>.</a:t>
            </a:r>
          </a:p>
          <a:p>
            <a:endParaRPr lang="en-IN" sz="1600" dirty="0"/>
          </a:p>
        </p:txBody>
      </p:sp>
      <p:sp>
        <p:nvSpPr>
          <p:cNvPr id="14" name="Rounded Rectangle 13"/>
          <p:cNvSpPr/>
          <p:nvPr/>
        </p:nvSpPr>
        <p:spPr>
          <a:xfrm>
            <a:off x="8136466" y="3621588"/>
            <a:ext cx="3776133" cy="2725768"/>
          </a:xfrm>
          <a:prstGeom prst="round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solidFill>
                  <a:srgbClr val="FF0000"/>
                </a:solidFill>
              </a:rPr>
              <a:t>Conclusion:</a:t>
            </a:r>
          </a:p>
          <a:p>
            <a:r>
              <a:rPr lang="en-US" sz="1600" dirty="0" smtClean="0"/>
              <a:t>The </a:t>
            </a:r>
            <a:r>
              <a:rPr lang="en-US" sz="1600" dirty="0"/>
              <a:t>data reveals that </a:t>
            </a:r>
            <a:r>
              <a:rPr lang="en-US" sz="1600" b="1" dirty="0"/>
              <a:t>content preferences are highly regional</a:t>
            </a:r>
            <a:r>
              <a:rPr lang="en-US" sz="1600" dirty="0"/>
              <a:t>. While some genres like </a:t>
            </a:r>
            <a:r>
              <a:rPr lang="en-US" sz="1600" b="1" dirty="0"/>
              <a:t>Comedy</a:t>
            </a:r>
            <a:r>
              <a:rPr lang="en-US" sz="1600" dirty="0"/>
              <a:t> and </a:t>
            </a:r>
            <a:r>
              <a:rPr lang="en-US" sz="1600" b="1" dirty="0"/>
              <a:t>Drama</a:t>
            </a:r>
            <a:r>
              <a:rPr lang="en-US" sz="1600" dirty="0"/>
              <a:t> perform well globally, others have specific strongholds; for example, </a:t>
            </a:r>
            <a:r>
              <a:rPr lang="en-US" sz="1600" b="1" dirty="0"/>
              <a:t>Action</a:t>
            </a:r>
            <a:r>
              <a:rPr lang="en-US" sz="1600" dirty="0"/>
              <a:t> has a significantly larger footprint in </a:t>
            </a:r>
            <a:r>
              <a:rPr lang="en-US" sz="1600" b="1" dirty="0"/>
              <a:t>India</a:t>
            </a:r>
            <a:r>
              <a:rPr lang="en-US" sz="1600" dirty="0"/>
              <a:t> and </a:t>
            </a:r>
            <a:r>
              <a:rPr lang="en-US" sz="1600" b="1" dirty="0"/>
              <a:t>Germany</a:t>
            </a:r>
            <a:r>
              <a:rPr lang="en-US" sz="1600" dirty="0"/>
              <a:t> compared to Canada or the UK. </a:t>
            </a:r>
            <a:endParaRPr lang="en-IN" sz="1600" dirty="0"/>
          </a:p>
        </p:txBody>
      </p:sp>
    </p:spTree>
    <p:extLst>
      <p:ext uri="{BB962C8B-B14F-4D97-AF65-F5344CB8AC3E}">
        <p14:creationId xmlns:p14="http://schemas.microsoft.com/office/powerpoint/2010/main" val="28105984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1875"/>
          </a:xfrm>
        </p:spPr>
        <p:txBody>
          <a:bodyPr>
            <a:normAutofit/>
          </a:bodyPr>
          <a:lstStyle/>
          <a:p>
            <a:pPr algn="ctr"/>
            <a:r>
              <a:rPr lang="en-IN" sz="3200" b="1" dirty="0" smtClean="0">
                <a:solidFill>
                  <a:srgbClr val="FF0000"/>
                </a:solidFill>
                <a:latin typeface="Cambria" panose="02040503050406030204" pitchFamily="18" charset="0"/>
                <a:ea typeface="Cambria" panose="02040503050406030204" pitchFamily="18" charset="0"/>
              </a:rPr>
              <a:t>Do Netflix Originals perform better than Licensed </a:t>
            </a:r>
            <a:r>
              <a:rPr lang="en-IN" sz="3200" b="1" dirty="0" smtClean="0">
                <a:solidFill>
                  <a:srgbClr val="FF0000"/>
                </a:solidFill>
                <a:latin typeface="Cambria" panose="02040503050406030204" pitchFamily="18" charset="0"/>
                <a:ea typeface="Cambria" panose="02040503050406030204" pitchFamily="18" charset="0"/>
              </a:rPr>
              <a:t>content?</a:t>
            </a:r>
            <a:endParaRPr lang="en-IN" sz="3200" dirty="0">
              <a:solidFill>
                <a:srgbClr val="FF000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48456" y="1579793"/>
            <a:ext cx="4285939" cy="2158240"/>
          </a:xfrm>
        </p:spPr>
      </p:pic>
      <p:sp>
        <p:nvSpPr>
          <p:cNvPr id="7" name="Rounded Rectangle 6"/>
          <p:cNvSpPr/>
          <p:nvPr/>
        </p:nvSpPr>
        <p:spPr>
          <a:xfrm>
            <a:off x="474134" y="1905000"/>
            <a:ext cx="6417734" cy="3666067"/>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rPr>
              <a:t>Why this chart?</a:t>
            </a:r>
          </a:p>
          <a:p>
            <a:r>
              <a:rPr lang="en-US" dirty="0" smtClean="0"/>
              <a:t>It's </a:t>
            </a:r>
            <a:r>
              <a:rPr lang="en-US" dirty="0"/>
              <a:t>a </a:t>
            </a:r>
            <a:r>
              <a:rPr lang="en-US" b="1" dirty="0"/>
              <a:t>Pie Chart</a:t>
            </a:r>
            <a:r>
              <a:rPr lang="en-US" dirty="0"/>
              <a:t>, perfect for showing a direct </a:t>
            </a:r>
            <a:r>
              <a:rPr lang="en-US" b="1" dirty="0"/>
              <a:t>part-to-whole</a:t>
            </a:r>
            <a:r>
              <a:rPr lang="en-US" dirty="0"/>
              <a:t> comparison between just two categories</a:t>
            </a:r>
            <a:r>
              <a:rPr lang="en-US" dirty="0" smtClean="0"/>
              <a:t>.</a:t>
            </a:r>
          </a:p>
          <a:p>
            <a:endParaRPr lang="en-US" dirty="0"/>
          </a:p>
          <a:p>
            <a:r>
              <a:rPr lang="en-US" b="1" dirty="0" smtClean="0">
                <a:solidFill>
                  <a:srgbClr val="FF0000"/>
                </a:solidFill>
              </a:rPr>
              <a:t>Explanation:</a:t>
            </a:r>
          </a:p>
          <a:p>
            <a:r>
              <a:rPr lang="en-US" b="1" dirty="0"/>
              <a:t>Originals (Red):</a:t>
            </a:r>
            <a:r>
              <a:rPr lang="en-US" dirty="0"/>
              <a:t> 50.8% (75.86K)</a:t>
            </a:r>
          </a:p>
          <a:p>
            <a:r>
              <a:rPr lang="en-US" b="1" dirty="0"/>
              <a:t>Licensed (Pink):</a:t>
            </a:r>
            <a:r>
              <a:rPr lang="en-US" dirty="0"/>
              <a:t> 49.2% (73.47K)</a:t>
            </a:r>
            <a:br>
              <a:rPr lang="en-US" dirty="0"/>
            </a:br>
            <a:r>
              <a:rPr lang="en-US" dirty="0"/>
              <a:t>The split is nearly </a:t>
            </a:r>
            <a:r>
              <a:rPr lang="en-US" b="1" dirty="0"/>
              <a:t>even</a:t>
            </a:r>
            <a:r>
              <a:rPr lang="en-US" dirty="0"/>
              <a:t>, with a marginal lead for original content.</a:t>
            </a:r>
          </a:p>
          <a:p>
            <a:endParaRPr lang="en-US" dirty="0" smtClean="0"/>
          </a:p>
          <a:p>
            <a:endParaRPr lang="en-IN" dirty="0"/>
          </a:p>
        </p:txBody>
      </p:sp>
      <p:sp>
        <p:nvSpPr>
          <p:cNvPr id="10" name="Rectangle 2"/>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ounded Rectangle 10"/>
          <p:cNvSpPr/>
          <p:nvPr/>
        </p:nvSpPr>
        <p:spPr>
          <a:xfrm>
            <a:off x="7248456" y="3996267"/>
            <a:ext cx="4285939" cy="1845733"/>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smtClean="0">
                <a:solidFill>
                  <a:srgbClr val="FF0000"/>
                </a:solidFill>
              </a:rPr>
              <a:t>Conclusion:</a:t>
            </a:r>
          </a:p>
          <a:p>
            <a:r>
              <a:rPr lang="en-US" dirty="0"/>
              <a:t>Originals hold a </a:t>
            </a:r>
            <a:r>
              <a:rPr lang="en-US" b="1" dirty="0"/>
              <a:t>slight edge</a:t>
            </a:r>
            <a:r>
              <a:rPr lang="en-US" dirty="0"/>
              <a:t>, but both content types are equally vital to Netflix’s performance.</a:t>
            </a:r>
            <a:endParaRPr lang="en-IN" dirty="0"/>
          </a:p>
        </p:txBody>
      </p:sp>
    </p:spTree>
    <p:extLst>
      <p:ext uri="{BB962C8B-B14F-4D97-AF65-F5344CB8AC3E}">
        <p14:creationId xmlns:p14="http://schemas.microsoft.com/office/powerpoint/2010/main" val="6478149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667" y="161926"/>
            <a:ext cx="10515600" cy="907508"/>
          </a:xfrm>
        </p:spPr>
        <p:txBody>
          <a:bodyPr>
            <a:normAutofit/>
          </a:bodyPr>
          <a:lstStyle/>
          <a:p>
            <a:pPr algn="ctr"/>
            <a:r>
              <a:rPr lang="en-IN" sz="3200" b="1" dirty="0" smtClean="0">
                <a:solidFill>
                  <a:srgbClr val="FF0000"/>
                </a:solidFill>
                <a:latin typeface="Cambria" panose="02040503050406030204" pitchFamily="18" charset="0"/>
                <a:ea typeface="Cambria" panose="02040503050406030204" pitchFamily="18" charset="0"/>
              </a:rPr>
              <a:t>How do content ratings affect </a:t>
            </a:r>
            <a:r>
              <a:rPr lang="en-IN" sz="3200" b="1" dirty="0" smtClean="0">
                <a:solidFill>
                  <a:srgbClr val="FF0000"/>
                </a:solidFill>
                <a:latin typeface="Cambria" panose="02040503050406030204" pitchFamily="18" charset="0"/>
                <a:ea typeface="Cambria" panose="02040503050406030204" pitchFamily="18" charset="0"/>
              </a:rPr>
              <a:t>performance?</a:t>
            </a:r>
            <a:endParaRPr lang="en-IN" sz="3200" dirty="0">
              <a:solidFill>
                <a:srgbClr val="FF0000"/>
              </a:solidFill>
              <a:latin typeface="Cambria" panose="02040503050406030204" pitchFamily="18" charset="0"/>
              <a:ea typeface="Cambria" panose="02040503050406030204" pitchFamily="18" charset="0"/>
            </a:endParaRP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63934" y="1303868"/>
            <a:ext cx="4089400" cy="2229059"/>
          </a:xfrm>
        </p:spPr>
      </p:pic>
      <p:sp>
        <p:nvSpPr>
          <p:cNvPr id="11" name="Rectangle 10"/>
          <p:cNvSpPr/>
          <p:nvPr/>
        </p:nvSpPr>
        <p:spPr>
          <a:xfrm>
            <a:off x="7857067" y="4075098"/>
            <a:ext cx="3903134" cy="2337963"/>
          </a:xfrm>
          <a:prstGeom prst="rect">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smtClean="0"/>
              <a:t>G refers General audience</a:t>
            </a:r>
          </a:p>
          <a:p>
            <a:pPr marL="285750" indent="-285750">
              <a:buFont typeface="Arial" panose="020B0604020202020204" pitchFamily="34" charset="0"/>
              <a:buChar char="•"/>
            </a:pPr>
            <a:r>
              <a:rPr lang="en-US" dirty="0" smtClean="0"/>
              <a:t>TV-G refers Kids and Families</a:t>
            </a:r>
          </a:p>
          <a:p>
            <a:pPr marL="285750" indent="-285750">
              <a:buFont typeface="Arial" panose="020B0604020202020204" pitchFamily="34" charset="0"/>
              <a:buChar char="•"/>
            </a:pPr>
            <a:r>
              <a:rPr lang="en-US" dirty="0" smtClean="0"/>
              <a:t>PG refers Parental Guidance</a:t>
            </a:r>
          </a:p>
          <a:p>
            <a:pPr marL="285750" indent="-285750">
              <a:buFont typeface="Arial" panose="020B0604020202020204" pitchFamily="34" charset="0"/>
              <a:buChar char="•"/>
            </a:pPr>
            <a:r>
              <a:rPr lang="en-US" dirty="0" smtClean="0"/>
              <a:t>PG-13 refers Teens(13+)</a:t>
            </a:r>
          </a:p>
          <a:p>
            <a:pPr marL="285750" indent="-285750">
              <a:buFont typeface="Arial" panose="020B0604020202020204" pitchFamily="34" charset="0"/>
              <a:buChar char="•"/>
            </a:pPr>
            <a:r>
              <a:rPr lang="en-US" dirty="0" smtClean="0"/>
              <a:t>TV-14 refers Teens &amp; Adults</a:t>
            </a:r>
          </a:p>
          <a:p>
            <a:pPr marL="285750" indent="-285750">
              <a:buFont typeface="Arial" panose="020B0604020202020204" pitchFamily="34" charset="0"/>
              <a:buChar char="•"/>
            </a:pPr>
            <a:r>
              <a:rPr lang="en-US" dirty="0" smtClean="0"/>
              <a:t>R refers Restricted (Adults)</a:t>
            </a:r>
          </a:p>
          <a:p>
            <a:pPr marL="285750" indent="-285750">
              <a:buFont typeface="Arial" panose="020B0604020202020204" pitchFamily="34" charset="0"/>
              <a:buChar char="•"/>
            </a:pPr>
            <a:r>
              <a:rPr lang="en-US" dirty="0" smtClean="0"/>
              <a:t>TV-MA refers Mature Adults only</a:t>
            </a:r>
            <a:endParaRPr lang="en-IN" dirty="0"/>
          </a:p>
        </p:txBody>
      </p:sp>
      <p:sp>
        <p:nvSpPr>
          <p:cNvPr id="13" name="Rounded Rectangle 12"/>
          <p:cNvSpPr/>
          <p:nvPr/>
        </p:nvSpPr>
        <p:spPr>
          <a:xfrm>
            <a:off x="338666" y="1303868"/>
            <a:ext cx="7103534" cy="5022202"/>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smtClean="0">
                <a:solidFill>
                  <a:srgbClr val="FF0000"/>
                </a:solidFill>
              </a:rPr>
              <a:t>Why this chart?</a:t>
            </a:r>
          </a:p>
          <a:p>
            <a:r>
              <a:rPr lang="en-US" dirty="0"/>
              <a:t>It’s a </a:t>
            </a:r>
            <a:r>
              <a:rPr lang="en-US" b="1" dirty="0"/>
              <a:t>Horizontal Bar Chart</a:t>
            </a:r>
            <a:r>
              <a:rPr lang="en-US" dirty="0"/>
              <a:t>, which is ideal for </a:t>
            </a:r>
            <a:r>
              <a:rPr lang="en-US" b="1" dirty="0"/>
              <a:t>ranking categories</a:t>
            </a:r>
            <a:r>
              <a:rPr lang="en-US" dirty="0" smtClean="0"/>
              <a:t>.</a:t>
            </a:r>
          </a:p>
          <a:p>
            <a:endParaRPr lang="en-US" b="1" dirty="0"/>
          </a:p>
          <a:p>
            <a:r>
              <a:rPr lang="en-US" b="1" dirty="0" smtClean="0">
                <a:solidFill>
                  <a:srgbClr val="FF0000"/>
                </a:solidFill>
              </a:rPr>
              <a:t>Explanation:</a:t>
            </a:r>
          </a:p>
          <a:p>
            <a:r>
              <a:rPr lang="en-US" dirty="0" smtClean="0"/>
              <a:t>The </a:t>
            </a:r>
            <a:r>
              <a:rPr lang="en-US" dirty="0"/>
              <a:t>chart ranks viewership from </a:t>
            </a:r>
            <a:r>
              <a:rPr lang="en-US" b="1" dirty="0"/>
              <a:t>TV-14</a:t>
            </a:r>
            <a:r>
              <a:rPr lang="en-US" dirty="0"/>
              <a:t> (highest) down to </a:t>
            </a:r>
            <a:r>
              <a:rPr lang="en-US" b="1" dirty="0"/>
              <a:t>TV-G</a:t>
            </a:r>
            <a:r>
              <a:rPr lang="en-US" dirty="0"/>
              <a:t> (lowest).</a:t>
            </a:r>
          </a:p>
          <a:p>
            <a:r>
              <a:rPr lang="en-US" b="1" dirty="0" smtClean="0"/>
              <a:t>Lowest </a:t>
            </a:r>
            <a:r>
              <a:rPr lang="en-US" b="1" dirty="0"/>
              <a:t>Performers:</a:t>
            </a:r>
            <a:r>
              <a:rPr lang="en-US" dirty="0"/>
              <a:t> </a:t>
            </a:r>
            <a:r>
              <a:rPr lang="en-US" b="1" dirty="0"/>
              <a:t>G</a:t>
            </a:r>
            <a:r>
              <a:rPr lang="en-US" dirty="0"/>
              <a:t> (General audience) and </a:t>
            </a:r>
            <a:r>
              <a:rPr lang="en-US" b="1" dirty="0"/>
              <a:t>TV-G</a:t>
            </a:r>
            <a:r>
              <a:rPr lang="en-US" dirty="0"/>
              <a:t> (Kids and Families) show significantly lower viewership compared to mature-rated </a:t>
            </a:r>
            <a:r>
              <a:rPr lang="en-US" dirty="0" smtClean="0"/>
              <a:t>content.</a:t>
            </a:r>
          </a:p>
          <a:p>
            <a:endParaRPr lang="en-US" dirty="0"/>
          </a:p>
          <a:p>
            <a:r>
              <a:rPr lang="en-US" b="1" dirty="0" smtClean="0">
                <a:solidFill>
                  <a:srgbClr val="FF0000"/>
                </a:solidFill>
              </a:rPr>
              <a:t>Conclusion:</a:t>
            </a:r>
          </a:p>
          <a:p>
            <a:r>
              <a:rPr lang="en-US" dirty="0"/>
              <a:t>Content geared toward </a:t>
            </a:r>
            <a:r>
              <a:rPr lang="en-US" b="1" dirty="0"/>
              <a:t>mature audiences and teenagers</a:t>
            </a:r>
            <a:r>
              <a:rPr lang="en-US" dirty="0"/>
              <a:t> (TV-14, R, PG-13) is the primary driver of performance.</a:t>
            </a:r>
            <a:endParaRPr lang="en-US" dirty="0" smtClean="0"/>
          </a:p>
          <a:p>
            <a:endParaRPr lang="en-US" dirty="0" smtClean="0"/>
          </a:p>
          <a:p>
            <a:endParaRPr lang="en-US" dirty="0"/>
          </a:p>
          <a:p>
            <a:endParaRPr lang="en-IN" b="1" dirty="0"/>
          </a:p>
        </p:txBody>
      </p:sp>
    </p:spTree>
    <p:extLst>
      <p:ext uri="{BB962C8B-B14F-4D97-AF65-F5344CB8AC3E}">
        <p14:creationId xmlns:p14="http://schemas.microsoft.com/office/powerpoint/2010/main" val="5304869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325"/>
            <a:ext cx="10515600" cy="1031875"/>
          </a:xfrm>
        </p:spPr>
        <p:txBody>
          <a:bodyPr>
            <a:normAutofit/>
          </a:bodyPr>
          <a:lstStyle/>
          <a:p>
            <a:pPr algn="ctr"/>
            <a:r>
              <a:rPr lang="en-IN" sz="3200" b="1" dirty="0" smtClean="0">
                <a:solidFill>
                  <a:srgbClr val="FF0000"/>
                </a:solidFill>
                <a:latin typeface="Cambria" panose="02040503050406030204" pitchFamily="18" charset="0"/>
                <a:ea typeface="Cambria" panose="02040503050406030204" pitchFamily="18" charset="0"/>
              </a:rPr>
              <a:t>Which countries contribute most to Netflix </a:t>
            </a:r>
            <a:r>
              <a:rPr lang="en-IN" sz="3200" b="1" dirty="0" smtClean="0">
                <a:solidFill>
                  <a:srgbClr val="FF0000"/>
                </a:solidFill>
                <a:latin typeface="Cambria" panose="02040503050406030204" pitchFamily="18" charset="0"/>
                <a:ea typeface="Cambria" panose="02040503050406030204" pitchFamily="18" charset="0"/>
              </a:rPr>
              <a:t>performance?</a:t>
            </a:r>
            <a:endParaRPr lang="en-IN" sz="3200" dirty="0">
              <a:solidFill>
                <a:srgbClr val="FF0000"/>
              </a:solidFill>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11491" y="1034732"/>
            <a:ext cx="3713242" cy="2699068"/>
          </a:xfrm>
        </p:spPr>
      </p:pic>
      <p:sp>
        <p:nvSpPr>
          <p:cNvPr id="5" name="Rounded Rectangle 4"/>
          <p:cNvSpPr/>
          <p:nvPr/>
        </p:nvSpPr>
        <p:spPr>
          <a:xfrm>
            <a:off x="321733" y="1337734"/>
            <a:ext cx="7078134" cy="5173133"/>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smtClean="0">
                <a:solidFill>
                  <a:srgbClr val="FF0000"/>
                </a:solidFill>
              </a:rPr>
              <a:t>Why this Chart?</a:t>
            </a:r>
          </a:p>
          <a:p>
            <a:r>
              <a:rPr lang="en-US" dirty="0"/>
              <a:t>It’s a </a:t>
            </a:r>
            <a:r>
              <a:rPr lang="en-US" b="1" dirty="0"/>
              <a:t>Vertical Bar Chart (Column Chart)</a:t>
            </a:r>
            <a:r>
              <a:rPr lang="en-US" dirty="0"/>
              <a:t>, which is the standard for </a:t>
            </a:r>
            <a:r>
              <a:rPr lang="en-US" b="1" dirty="0"/>
              <a:t>comparing discrete categories</a:t>
            </a:r>
            <a:r>
              <a:rPr lang="en-US" dirty="0"/>
              <a:t>. It uses the height of the bars to make the performance differences between countries immediately </a:t>
            </a:r>
            <a:r>
              <a:rPr lang="en-US" dirty="0" smtClean="0"/>
              <a:t>clear.</a:t>
            </a:r>
          </a:p>
          <a:p>
            <a:endParaRPr lang="en-US" dirty="0"/>
          </a:p>
          <a:p>
            <a:r>
              <a:rPr lang="en-US" b="1" dirty="0" smtClean="0">
                <a:solidFill>
                  <a:srgbClr val="FF0000"/>
                </a:solidFill>
              </a:rPr>
              <a:t>Explanation:</a:t>
            </a:r>
          </a:p>
          <a:p>
            <a:r>
              <a:rPr lang="en-US" b="1" dirty="0"/>
              <a:t>X-Axis:</a:t>
            </a:r>
            <a:r>
              <a:rPr lang="en-US" dirty="0"/>
              <a:t> Lists specific countries (Canada, Japan, UK, France, Germany, South Korea, USA, India).</a:t>
            </a:r>
          </a:p>
          <a:p>
            <a:r>
              <a:rPr lang="en-US" b="1" dirty="0"/>
              <a:t>Y-Axis:</a:t>
            </a:r>
            <a:r>
              <a:rPr lang="en-US" dirty="0"/>
              <a:t> Measures viewership, ranging from 0K to over 20K.</a:t>
            </a:r>
          </a:p>
          <a:p>
            <a:r>
              <a:rPr lang="en-US" b="1" dirty="0"/>
              <a:t>Ranking:</a:t>
            </a:r>
            <a:r>
              <a:rPr lang="en-US" dirty="0"/>
              <a:t> </a:t>
            </a:r>
            <a:r>
              <a:rPr lang="en-US" b="1" dirty="0"/>
              <a:t>Canada</a:t>
            </a:r>
            <a:r>
              <a:rPr lang="en-US" dirty="0"/>
              <a:t> leads with the highest viewership (above 20K), followed closely by </a:t>
            </a:r>
            <a:r>
              <a:rPr lang="en-US" b="1" dirty="0"/>
              <a:t>Japan</a:t>
            </a:r>
            <a:r>
              <a:rPr lang="en-US" dirty="0"/>
              <a:t>. </a:t>
            </a:r>
            <a:r>
              <a:rPr lang="en-US" b="1" dirty="0"/>
              <a:t>India</a:t>
            </a:r>
            <a:r>
              <a:rPr lang="en-US" dirty="0"/>
              <a:t> shows the lowest viewership among the countries </a:t>
            </a:r>
            <a:r>
              <a:rPr lang="en-US" dirty="0" smtClean="0"/>
              <a:t>listed.</a:t>
            </a:r>
            <a:endParaRPr lang="en-US" dirty="0"/>
          </a:p>
          <a:p>
            <a:endParaRPr lang="en-IN" dirty="0" smtClean="0"/>
          </a:p>
          <a:p>
            <a:endParaRPr lang="en-IN" dirty="0"/>
          </a:p>
        </p:txBody>
      </p:sp>
      <p:sp>
        <p:nvSpPr>
          <p:cNvPr id="7" name="Rounded Rectangle 6"/>
          <p:cNvSpPr/>
          <p:nvPr/>
        </p:nvSpPr>
        <p:spPr>
          <a:xfrm>
            <a:off x="7811491" y="3843868"/>
            <a:ext cx="3793066" cy="2548466"/>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smtClean="0">
                <a:solidFill>
                  <a:srgbClr val="FF0000"/>
                </a:solidFill>
              </a:rPr>
              <a:t>Conclusion:</a:t>
            </a:r>
          </a:p>
          <a:p>
            <a:r>
              <a:rPr lang="en-US" sz="1600" dirty="0"/>
              <a:t>While Netflix has a strong global presence, </a:t>
            </a:r>
            <a:r>
              <a:rPr lang="en-US" sz="1600" b="1" dirty="0"/>
              <a:t>Canada and Japan</a:t>
            </a:r>
            <a:r>
              <a:rPr lang="en-US" sz="1600" dirty="0"/>
              <a:t> are currently its most significant contributors to performance. There is a noticeable </a:t>
            </a:r>
            <a:r>
              <a:rPr lang="en-US" sz="1600" b="1" dirty="0"/>
              <a:t>downward trend</a:t>
            </a:r>
            <a:r>
              <a:rPr lang="en-US" sz="1600" dirty="0"/>
              <a:t> in viewership as you move toward the USA and India, suggesting room for growth in those </a:t>
            </a:r>
            <a:r>
              <a:rPr lang="en-US" sz="1600" dirty="0" smtClean="0"/>
              <a:t>markets.</a:t>
            </a:r>
            <a:endParaRPr lang="en-IN" sz="1600" dirty="0"/>
          </a:p>
        </p:txBody>
      </p:sp>
    </p:spTree>
    <p:extLst>
      <p:ext uri="{BB962C8B-B14F-4D97-AF65-F5344CB8AC3E}">
        <p14:creationId xmlns:p14="http://schemas.microsoft.com/office/powerpoint/2010/main" val="406558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333" y="204259"/>
            <a:ext cx="10515600" cy="1108075"/>
          </a:xfrm>
        </p:spPr>
        <p:txBody>
          <a:bodyPr>
            <a:normAutofit/>
          </a:bodyPr>
          <a:lstStyle/>
          <a:p>
            <a:pPr algn="ctr"/>
            <a:r>
              <a:rPr lang="en-IN" sz="3200" b="1" dirty="0" smtClean="0">
                <a:solidFill>
                  <a:srgbClr val="FF0000"/>
                </a:solidFill>
                <a:latin typeface="Cambria" panose="02040503050406030204" pitchFamily="18" charset="0"/>
                <a:ea typeface="Cambria" panose="02040503050406030204" pitchFamily="18" charset="0"/>
              </a:rPr>
              <a:t>How has Netflix’s content library grown over </a:t>
            </a:r>
            <a:r>
              <a:rPr lang="en-IN" sz="3200" b="1" dirty="0" smtClean="0">
                <a:solidFill>
                  <a:srgbClr val="FF0000"/>
                </a:solidFill>
                <a:latin typeface="Cambria" panose="02040503050406030204" pitchFamily="18" charset="0"/>
                <a:ea typeface="Cambria" panose="02040503050406030204" pitchFamily="18" charset="0"/>
              </a:rPr>
              <a:t>time?</a:t>
            </a:r>
            <a:endParaRPr lang="en-IN" sz="3200" dirty="0">
              <a:solidFill>
                <a:srgbClr val="FF0000"/>
              </a:solidFill>
              <a:latin typeface="Cambria" panose="02040503050406030204" pitchFamily="18" charset="0"/>
              <a:ea typeface="Cambria" panose="02040503050406030204" pitchFamily="18" charset="0"/>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02482" y="1312334"/>
            <a:ext cx="3862985" cy="2668632"/>
          </a:xfrm>
        </p:spPr>
      </p:pic>
      <p:sp>
        <p:nvSpPr>
          <p:cNvPr id="7" name="Rounded Rectangle 6"/>
          <p:cNvSpPr/>
          <p:nvPr/>
        </p:nvSpPr>
        <p:spPr>
          <a:xfrm>
            <a:off x="270931" y="1737300"/>
            <a:ext cx="6908802" cy="4487332"/>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FF0000"/>
                </a:solidFill>
              </a:rPr>
              <a:t>Why this chart?</a:t>
            </a:r>
          </a:p>
          <a:p>
            <a:r>
              <a:rPr lang="en-US" dirty="0" smtClean="0"/>
              <a:t>Line </a:t>
            </a:r>
            <a:r>
              <a:rPr lang="en-US" dirty="0"/>
              <a:t>chart is a visual representation of the growth and fluctuations in Netflix's content library over a 20-year </a:t>
            </a:r>
            <a:r>
              <a:rPr lang="en-US" dirty="0" smtClean="0"/>
              <a:t>period</a:t>
            </a:r>
          </a:p>
          <a:p>
            <a:endParaRPr lang="en-US" dirty="0" smtClean="0"/>
          </a:p>
          <a:p>
            <a:endParaRPr lang="en-US" dirty="0"/>
          </a:p>
          <a:p>
            <a:r>
              <a:rPr lang="en-US" b="1" dirty="0" smtClean="0">
                <a:solidFill>
                  <a:srgbClr val="FF0000"/>
                </a:solidFill>
              </a:rPr>
              <a:t>Explanation:</a:t>
            </a:r>
          </a:p>
          <a:p>
            <a:r>
              <a:rPr lang="en-US" dirty="0"/>
              <a:t>It displays data points from 2005 to 2025, showing significant variations in content volume. There are notable peaks around 2005 and 2015, followed by subsequent dips.</a:t>
            </a:r>
            <a:endParaRPr lang="en-IN" dirty="0"/>
          </a:p>
        </p:txBody>
      </p:sp>
      <p:sp>
        <p:nvSpPr>
          <p:cNvPr id="8" name="Rounded Rectangle 7"/>
          <p:cNvSpPr/>
          <p:nvPr/>
        </p:nvSpPr>
        <p:spPr>
          <a:xfrm>
            <a:off x="7806267" y="4301067"/>
            <a:ext cx="3759200" cy="2023533"/>
          </a:xfrm>
          <a:prstGeom prst="roundRect">
            <a:avLst/>
          </a:prstGeom>
          <a:solidFill>
            <a:schemeClr val="tx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smtClean="0">
                <a:solidFill>
                  <a:srgbClr val="FF0000"/>
                </a:solidFill>
              </a:rPr>
              <a:t>Conclusion:</a:t>
            </a:r>
          </a:p>
          <a:p>
            <a:r>
              <a:rPr lang="en-US" dirty="0"/>
              <a:t>The overall long-term trend appears to indicate a growing library, with a projected increase in content towards 2025</a:t>
            </a:r>
            <a:endParaRPr lang="en-IN" dirty="0"/>
          </a:p>
        </p:txBody>
      </p:sp>
    </p:spTree>
    <p:extLst>
      <p:ext uri="{BB962C8B-B14F-4D97-AF65-F5344CB8AC3E}">
        <p14:creationId xmlns:p14="http://schemas.microsoft.com/office/powerpoint/2010/main" val="10217273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latin typeface="Cambria" panose="02040503050406030204" pitchFamily="18" charset="0"/>
                <a:ea typeface="Cambria" panose="02040503050406030204" pitchFamily="18" charset="0"/>
              </a:rPr>
              <a:t>CONCLUSION</a:t>
            </a:r>
            <a:endParaRPr lang="en-IN"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normAutofit/>
          </a:bodyPr>
          <a:lstStyle/>
          <a:p>
            <a:pPr marL="0" indent="0">
              <a:buNone/>
            </a:pPr>
            <a:r>
              <a:rPr lang="en-US" sz="3200" b="1" dirty="0" smtClean="0">
                <a:solidFill>
                  <a:schemeClr val="bg1"/>
                </a:solidFill>
                <a:latin typeface="+mj-lt"/>
                <a:ea typeface="Cambria" panose="02040503050406030204" pitchFamily="18" charset="0"/>
              </a:rPr>
              <a:t>This project used Power BI to analyze Netflix content performance and growth, converting data into clear business insights. The analysis supports data-driven decisions to improve content strategy, and regional performance</a:t>
            </a:r>
            <a:r>
              <a:rPr lang="en-US" sz="3200" dirty="0" smtClean="0">
                <a:solidFill>
                  <a:schemeClr val="bg1"/>
                </a:solidFill>
                <a:latin typeface="+mj-lt"/>
              </a:rPr>
              <a:t>.</a:t>
            </a:r>
            <a:endParaRPr lang="en-US" sz="3200" dirty="0">
              <a:solidFill>
                <a:schemeClr val="bg1"/>
              </a:solidFill>
              <a:latin typeface="+mj-lt"/>
            </a:endParaRPr>
          </a:p>
        </p:txBody>
      </p:sp>
    </p:spTree>
    <p:extLst>
      <p:ext uri="{BB962C8B-B14F-4D97-AF65-F5344CB8AC3E}">
        <p14:creationId xmlns:p14="http://schemas.microsoft.com/office/powerpoint/2010/main" val="21303416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601</TotalTime>
  <Words>526</Words>
  <Application>Microsoft Office PowerPoint</Application>
  <PresentationFormat>Widescreen</PresentationFormat>
  <Paragraphs>118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vt:lpstr>
      <vt:lpstr>Wingdings</vt:lpstr>
      <vt:lpstr>Office Theme</vt:lpstr>
      <vt:lpstr>NETFLIX CONTENT PERFORMANCE AND GROWTH ANALYTICS</vt:lpstr>
      <vt:lpstr>INTRODUCTION</vt:lpstr>
      <vt:lpstr>Dataset</vt:lpstr>
      <vt:lpstr>Business Queries</vt:lpstr>
      <vt:lpstr>Key Metrics</vt:lpstr>
      <vt:lpstr>Which Netflix movies and TV shows perform the best?</vt:lpstr>
      <vt:lpstr>How has Netflix viewership changed over time?</vt:lpstr>
      <vt:lpstr>Which genres perform well in different countries?</vt:lpstr>
      <vt:lpstr>Do Netflix Originals perform better than Licensed content?</vt:lpstr>
      <vt:lpstr>How do content ratings affect performance?</vt:lpstr>
      <vt:lpstr>Which countries contribute most to Netflix performance?</vt:lpstr>
      <vt:lpstr>How has Netflix’s content library grown over time?</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CONTENT PERFORMANCE AND GROWTH ANALYTICS</dc:title>
  <dc:creator>sangavi s</dc:creator>
  <cp:lastModifiedBy>sangavi s</cp:lastModifiedBy>
  <cp:revision>37</cp:revision>
  <dcterms:created xsi:type="dcterms:W3CDTF">2026-02-10T15:41:37Z</dcterms:created>
  <dcterms:modified xsi:type="dcterms:W3CDTF">2026-02-11T02:28:19Z</dcterms:modified>
</cp:coreProperties>
</file>